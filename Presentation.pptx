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3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75" d="100"/>
          <a:sy n="75" d="100"/>
        </p:scale>
        <p:origin x="123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0" y="1461749"/>
            <a:ext cx="5783400" cy="9090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0" y="32272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298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</a:t>
            </a:r>
            <a:r>
              <a:rPr lang="en-US" sz="1600" dirty="0"/>
              <a:t>The system collects and analyzes key customer data including repayment history, credit utilization, and other financial behaviors.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US" sz="1600" dirty="0"/>
              <a:t>It uses a predictive model to assess a customer's risk of delinquency. Based on the model's predictions and predefined business rules, it determines the most effective 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</a:t>
            </a:r>
            <a:r>
              <a:rPr lang="en-US" sz="1600" dirty="0"/>
              <a:t>The system automatically triggers a specific outreach or intervention. This could include a payment reminder, an offer for a flexible payment plan, or a referral to a human agent for a hardship review.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</a:t>
            </a:r>
            <a:r>
              <a:rPr lang="en-US" sz="1600" dirty="0"/>
              <a:t>The system tracks the outcomes of its actions (e.g., whether a payment was made after a reminder) and uses this data to continuously refine its predictions and improve its strategies over time.</a:t>
            </a: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indent="0">
              <a:buNone/>
            </a:pPr>
            <a:r>
              <a:rPr lang="en-GB" sz="1800" b="1" dirty="0"/>
              <a:t>Fully automated decisions</a:t>
            </a:r>
          </a:p>
          <a:p>
            <a:pPr marL="139700" indent="0">
              <a:buNone/>
            </a:pPr>
            <a:endParaRPr lang="en-GB" sz="1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Sending a basic payment reminder via SMS or email.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Generating real-time risk scores for the entire customer portfolio.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Continuously updating the predictive model with new data.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458BF-0E01-DA66-510B-EE8FADB6A4D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39700" indent="0">
              <a:buNone/>
            </a:pPr>
            <a:r>
              <a:rPr lang="en-GB" sz="1800" b="1" dirty="0"/>
              <a:t>Human-reviewed actions </a:t>
            </a:r>
          </a:p>
          <a:p>
            <a:pPr marL="139700" indent="0">
              <a:buNone/>
            </a:pPr>
            <a:endParaRPr lang="en-GB" sz="1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Reviewing complex or sensitive hardship cases flagged by the AI.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Approving and customizing personalized hardship offers for a specific customer.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Providing human empathy and negotiation during direct customer phone calls.</a:t>
            </a: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501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dirty="0"/>
              <a:t>List and describe key safeguards you would build into the system to ensure it operates fairly and responsibly, such as: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600" b="1" dirty="0"/>
              <a:t>Fairness Checks : </a:t>
            </a:r>
            <a:r>
              <a:rPr lang="en-GB" sz="1600" dirty="0"/>
              <a:t>The system includes built-in fairness checks to prevent biased outcomes.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600" b="1" dirty="0"/>
              <a:t>Explainability : </a:t>
            </a:r>
            <a:r>
              <a:rPr lang="en-GB" sz="1600" dirty="0"/>
              <a:t>The model is designed for transparency. Its predictions</a:t>
            </a:r>
            <a:r>
              <a:rPr lang="en-GB" sz="1600" b="1" dirty="0"/>
              <a:t> </a:t>
            </a:r>
            <a:r>
              <a:rPr lang="en-GB" sz="1600" dirty="0"/>
              <a:t>are easily explainable, allowing us to clearly communicate to both stakeholders and customers why a particular decision was made.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600" b="1" dirty="0"/>
              <a:t>Regulatory Compliance : </a:t>
            </a:r>
            <a:r>
              <a:rPr lang="en-GB" sz="1600" dirty="0"/>
              <a:t>The system is built with strict adherence to relevant financial regulations and standards, such as ECOA and GDPR.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600" b="1" dirty="0"/>
              <a:t>Ethical Principles : </a:t>
            </a:r>
            <a:r>
              <a:rPr lang="en-GB" sz="1600" dirty="0"/>
              <a:t>The system is designed to promote responsible financial decision-making for customers, focusing on proactive support rather than purely punitive actions. </a:t>
            </a:r>
            <a:endParaRPr lang="en-GB" sz="1600" b="1" dirty="0"/>
          </a:p>
          <a:p>
            <a:pPr marL="114300" indent="0"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3999900" cy="3285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IN" sz="1800" b="1" dirty="0"/>
              <a:t>Quantitative Outcomes </a:t>
            </a:r>
          </a:p>
          <a:p>
            <a:pPr>
              <a:buNone/>
            </a:pPr>
            <a:endParaRPr lang="en-IN" sz="1800" b="1" dirty="0"/>
          </a:p>
          <a:p>
            <a:r>
              <a:rPr lang="en-US" b="1" dirty="0"/>
              <a:t>Reduced Delinquency</a:t>
            </a:r>
            <a:r>
              <a:rPr lang="en-US" dirty="0"/>
              <a:t>: Proactive and targeted interventions will lead to a decrease in overall delinquency rates.</a:t>
            </a:r>
          </a:p>
          <a:p>
            <a:r>
              <a:rPr lang="en-US" b="1" dirty="0"/>
              <a:t>Increased Repayment Rates</a:t>
            </a:r>
            <a:r>
              <a:rPr lang="en-US" dirty="0"/>
              <a:t>: By offering personalized and timely support, the system will improve repayment success within high-risk segments.</a:t>
            </a:r>
          </a:p>
          <a:p>
            <a:r>
              <a:rPr lang="en-US" b="1" dirty="0"/>
              <a:t>Cost Savings</a:t>
            </a:r>
            <a:r>
              <a:rPr lang="en-US" dirty="0"/>
              <a:t>: Automating routine tasks and reducing write-offs will lower operational costs for the collections team.</a:t>
            </a:r>
            <a:endParaRPr lang="en-IN" b="1" dirty="0"/>
          </a:p>
          <a:p>
            <a:endParaRPr lang="en-GB" sz="18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991CC2-E1ED-4525-CFCA-A0FA3B073E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56200" y="1489825"/>
            <a:ext cx="3999900" cy="3195650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r>
              <a:rPr lang="en-IN" sz="1800" b="1" dirty="0"/>
              <a:t>Qualitative Outcomes </a:t>
            </a:r>
          </a:p>
          <a:p>
            <a:pPr marL="139700" indent="0">
              <a:buNone/>
            </a:pPr>
            <a:endParaRPr lang="en-IN" sz="1800" b="1" dirty="0"/>
          </a:p>
          <a:p>
            <a:r>
              <a:rPr lang="en-US" b="1" dirty="0"/>
              <a:t>Improved Customer Trust</a:t>
            </a:r>
            <a:r>
              <a:rPr lang="en-US" dirty="0"/>
              <a:t>: The system's transparent and fair approach will build trust and enhance the customer experience.</a:t>
            </a:r>
          </a:p>
          <a:p>
            <a:r>
              <a:rPr lang="en-US" b="1" dirty="0"/>
              <a:t>Enhanced Scalability</a:t>
            </a:r>
            <a:r>
              <a:rPr lang="en-US" dirty="0"/>
              <a:t>: The AI-powered system can handle a growing customer base without requiring a proportional increase in manual resources.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D80AC-9160-14A4-2107-06DDC4E2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Impact on Geldium’s Collections Strategy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98DF6-D43F-7E84-4BE5-DF71D229E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1200"/>
              </a:spcBef>
              <a:buSzPts val="1100"/>
              <a:buNone/>
            </a:pPr>
            <a:r>
              <a:rPr lang="en-US" b="1" dirty="0"/>
              <a:t>How This AI-Powered System Benefits </a:t>
            </a:r>
            <a:r>
              <a:rPr lang="en-US" b="1" dirty="0" err="1"/>
              <a:t>Geldium</a:t>
            </a:r>
            <a:endParaRPr lang="en-US" b="1" dirty="0"/>
          </a:p>
          <a:p>
            <a:pPr lvl="0" indent="-323850">
              <a:spcBef>
                <a:spcPts val="1200"/>
              </a:spcBef>
              <a:buSzPts val="1500"/>
            </a:pPr>
            <a:r>
              <a:rPr lang="en-US" b="1" dirty="0"/>
              <a:t>Enhanced Scalability</a:t>
            </a:r>
            <a:r>
              <a:rPr lang="en-US" dirty="0"/>
              <a:t>: AI-driven automation allows for large-scale outreach without compromising </a:t>
            </a:r>
            <a:r>
              <a:rPr lang="en-US"/>
              <a:t>personalized service.</a:t>
            </a:r>
            <a:endParaRPr lang="en-US" dirty="0"/>
          </a:p>
          <a:p>
            <a:pPr lvl="0" indent="-323850">
              <a:buSzPts val="1500"/>
            </a:pPr>
            <a:r>
              <a:rPr lang="en-US" b="1" dirty="0"/>
              <a:t>Cost Efficiency</a:t>
            </a:r>
            <a:r>
              <a:rPr lang="en-US" dirty="0"/>
              <a:t>: Significant reduction in manual outreach, reducing labor costs</a:t>
            </a:r>
          </a:p>
          <a:p>
            <a:pPr lvl="0" indent="-323850">
              <a:buSzPts val="1500"/>
            </a:pPr>
            <a:r>
              <a:rPr lang="en-US" b="1" dirty="0"/>
              <a:t>Improved Risk Management</a:t>
            </a:r>
            <a:r>
              <a:rPr lang="en-US" dirty="0"/>
              <a:t>: Predictive models help target interventions to at-risk customers, improving collection efficiency.</a:t>
            </a:r>
          </a:p>
          <a:p>
            <a:pPr lvl="0" indent="-323850">
              <a:buSzPts val="1500"/>
            </a:pPr>
            <a:r>
              <a:rPr lang="en-US" b="1" dirty="0"/>
              <a:t>Better Customer Experience</a:t>
            </a:r>
            <a:r>
              <a:rPr lang="en-US" dirty="0"/>
              <a:t>: Fair and transparent system increases customer trust and satisfaction, leading to higher repayment rates.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300663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744</Words>
  <Application>Microsoft Office PowerPoint</Application>
  <PresentationFormat>On-screen Show (16:9)</PresentationFormat>
  <Paragraphs>54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Wingdings</vt:lpstr>
      <vt:lpstr>Roboto Slab</vt:lpstr>
      <vt:lpstr>Roboto</vt:lpstr>
      <vt:lpstr>Arial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Impact on Geldium’s Collections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Manu Sree</cp:lastModifiedBy>
  <cp:revision>4</cp:revision>
  <dcterms:modified xsi:type="dcterms:W3CDTF">2025-09-30T08:27:25Z</dcterms:modified>
</cp:coreProperties>
</file>